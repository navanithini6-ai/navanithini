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9" r:id="rId10"/>
    <p:sldId id="263" r:id="rId11"/>
    <p:sldId id="265" r:id="rId12"/>
  </p:sldIdLst>
  <p:sldSz cx="12192000" cy="6858000"/>
  <p:notesSz cx="12192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830CC7-8040-4162-8342-BB180D82127D}" v="17" dt="2024-08-20T06:41:39.57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6" d="100"/>
          <a:sy n="76" d="100"/>
        </p:scale>
        <p:origin x="-480" y="21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86612-B127-4CD0-BF15-66D49A7175F7}" type="datetimeFigureOut">
              <a:rPr lang="en-IN" smtClean="0"/>
              <a:t>11-09-2025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F439ED-1E90-4106-847A-8EF19031FE2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8557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F439ED-1E90-4106-847A-8EF19031FE2F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353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195574" y="2067305"/>
            <a:ext cx="5800851" cy="518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377426" y="4825"/>
            <a:ext cx="1218565" cy="6853555"/>
          </a:xfrm>
          <a:custGeom>
            <a:avLst/>
            <a:gdLst/>
            <a:ahLst/>
            <a:cxnLst/>
            <a:rect l="l" t="t" r="r" b="b"/>
            <a:pathLst>
              <a:path w="1218565" h="6853555">
                <a:moveTo>
                  <a:pt x="0" y="0"/>
                </a:moveTo>
                <a:lnTo>
                  <a:pt x="1218352" y="6853171"/>
                </a:lnTo>
              </a:path>
            </a:pathLst>
          </a:custGeom>
          <a:ln w="9525">
            <a:solidFill>
              <a:srgbClr val="5FCAE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448612" y="3694896"/>
            <a:ext cx="4743450" cy="3163570"/>
          </a:xfrm>
          <a:custGeom>
            <a:avLst/>
            <a:gdLst/>
            <a:ahLst/>
            <a:cxnLst/>
            <a:rect l="l" t="t" r="r" b="b"/>
            <a:pathLst>
              <a:path w="4743450" h="3163570">
                <a:moveTo>
                  <a:pt x="4743387" y="0"/>
                </a:moveTo>
                <a:lnTo>
                  <a:pt x="0" y="3163101"/>
                </a:lnTo>
              </a:path>
            </a:pathLst>
          </a:custGeom>
          <a:ln w="9525">
            <a:solidFill>
              <a:srgbClr val="5FCAE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182100" y="0"/>
            <a:ext cx="3009900" cy="6858000"/>
          </a:xfrm>
          <a:custGeom>
            <a:avLst/>
            <a:gdLst/>
            <a:ahLst/>
            <a:cxnLst/>
            <a:rect l="l" t="t" r="r" b="b"/>
            <a:pathLst>
              <a:path w="3009900" h="6858000">
                <a:moveTo>
                  <a:pt x="3009899" y="0"/>
                </a:moveTo>
                <a:lnTo>
                  <a:pt x="2044399" y="0"/>
                </a:lnTo>
                <a:lnTo>
                  <a:pt x="0" y="6857996"/>
                </a:lnTo>
                <a:lnTo>
                  <a:pt x="3009899" y="6857996"/>
                </a:lnTo>
                <a:lnTo>
                  <a:pt x="3009899" y="0"/>
                </a:lnTo>
                <a:close/>
              </a:path>
            </a:pathLst>
          </a:custGeom>
          <a:solidFill>
            <a:srgbClr val="5FCAE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9602878" y="0"/>
            <a:ext cx="2589530" cy="6858000"/>
          </a:xfrm>
          <a:custGeom>
            <a:avLst/>
            <a:gdLst/>
            <a:ahLst/>
            <a:cxnLst/>
            <a:rect l="l" t="t" r="r" b="b"/>
            <a:pathLst>
              <a:path w="2589529" h="6858000">
                <a:moveTo>
                  <a:pt x="2589120" y="0"/>
                </a:moveTo>
                <a:lnTo>
                  <a:pt x="0" y="0"/>
                </a:lnTo>
                <a:lnTo>
                  <a:pt x="1208884" y="6857996"/>
                </a:lnTo>
                <a:lnTo>
                  <a:pt x="2589120" y="6857996"/>
                </a:lnTo>
                <a:lnTo>
                  <a:pt x="2589120" y="0"/>
                </a:lnTo>
                <a:close/>
              </a:path>
            </a:pathLst>
          </a:custGeom>
          <a:solidFill>
            <a:srgbClr val="5FCAEE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934450" y="3048000"/>
            <a:ext cx="3257550" cy="3810000"/>
          </a:xfrm>
          <a:custGeom>
            <a:avLst/>
            <a:gdLst/>
            <a:ahLst/>
            <a:cxnLst/>
            <a:rect l="l" t="t" r="r" b="b"/>
            <a:pathLst>
              <a:path w="3257550" h="3810000">
                <a:moveTo>
                  <a:pt x="3257550" y="0"/>
                </a:moveTo>
                <a:lnTo>
                  <a:pt x="0" y="3810000"/>
                </a:lnTo>
                <a:lnTo>
                  <a:pt x="3257550" y="3810000"/>
                </a:lnTo>
                <a:lnTo>
                  <a:pt x="3257550" y="0"/>
                </a:lnTo>
                <a:close/>
              </a:path>
            </a:pathLst>
          </a:custGeom>
          <a:solidFill>
            <a:srgbClr val="17AFE3">
              <a:alpha val="6588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9337930" y="0"/>
            <a:ext cx="2854325" cy="6858000"/>
          </a:xfrm>
          <a:custGeom>
            <a:avLst/>
            <a:gdLst/>
            <a:ahLst/>
            <a:cxnLst/>
            <a:rect l="l" t="t" r="r" b="b"/>
            <a:pathLst>
              <a:path w="2854325" h="6858000">
                <a:moveTo>
                  <a:pt x="2854069" y="0"/>
                </a:moveTo>
                <a:lnTo>
                  <a:pt x="0" y="0"/>
                </a:lnTo>
                <a:lnTo>
                  <a:pt x="2470020" y="6857996"/>
                </a:lnTo>
                <a:lnTo>
                  <a:pt x="2854069" y="6857996"/>
                </a:lnTo>
                <a:lnTo>
                  <a:pt x="2854069" y="0"/>
                </a:lnTo>
                <a:close/>
              </a:path>
            </a:pathLst>
          </a:custGeom>
          <a:solidFill>
            <a:srgbClr val="17AFE3">
              <a:alpha val="5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0896600" y="0"/>
            <a:ext cx="1295400" cy="6858000"/>
          </a:xfrm>
          <a:custGeom>
            <a:avLst/>
            <a:gdLst/>
            <a:ahLst/>
            <a:cxnLst/>
            <a:rect l="l" t="t" r="r" b="b"/>
            <a:pathLst>
              <a:path w="1295400" h="6858000">
                <a:moveTo>
                  <a:pt x="1295399" y="0"/>
                </a:moveTo>
                <a:lnTo>
                  <a:pt x="1022453" y="0"/>
                </a:lnTo>
                <a:lnTo>
                  <a:pt x="0" y="6857996"/>
                </a:lnTo>
                <a:lnTo>
                  <a:pt x="1295399" y="6857996"/>
                </a:lnTo>
                <a:lnTo>
                  <a:pt x="1295399" y="0"/>
                </a:lnTo>
                <a:close/>
              </a:path>
            </a:pathLst>
          </a:custGeom>
          <a:solidFill>
            <a:srgbClr val="2D83C3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10936247" y="0"/>
            <a:ext cx="1256030" cy="6858000"/>
          </a:xfrm>
          <a:custGeom>
            <a:avLst/>
            <a:gdLst/>
            <a:ahLst/>
            <a:cxnLst/>
            <a:rect l="l" t="t" r="r" b="b"/>
            <a:pathLst>
              <a:path w="1256029" h="6858000">
                <a:moveTo>
                  <a:pt x="1255752" y="0"/>
                </a:moveTo>
                <a:lnTo>
                  <a:pt x="0" y="0"/>
                </a:lnTo>
                <a:lnTo>
                  <a:pt x="1114527" y="6857996"/>
                </a:lnTo>
                <a:lnTo>
                  <a:pt x="1255752" y="6857996"/>
                </a:lnTo>
                <a:lnTo>
                  <a:pt x="1255752" y="0"/>
                </a:lnTo>
                <a:close/>
              </a:path>
            </a:pathLst>
          </a:custGeom>
          <a:solidFill>
            <a:srgbClr val="226192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10372725" y="3590925"/>
            <a:ext cx="1819275" cy="3267075"/>
          </a:xfrm>
          <a:custGeom>
            <a:avLst/>
            <a:gdLst/>
            <a:ahLst/>
            <a:cxnLst/>
            <a:rect l="l" t="t" r="r" b="b"/>
            <a:pathLst>
              <a:path w="1819275" h="3267075">
                <a:moveTo>
                  <a:pt x="1819275" y="0"/>
                </a:moveTo>
                <a:lnTo>
                  <a:pt x="0" y="3267075"/>
                </a:lnTo>
                <a:lnTo>
                  <a:pt x="1819275" y="3267075"/>
                </a:lnTo>
                <a:lnTo>
                  <a:pt x="1819275" y="0"/>
                </a:lnTo>
                <a:close/>
              </a:path>
            </a:pathLst>
          </a:custGeom>
          <a:solidFill>
            <a:srgbClr val="17AFE3">
              <a:alpha val="6588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0" y="4010025"/>
            <a:ext cx="447675" cy="2847975"/>
          </a:xfrm>
          <a:custGeom>
            <a:avLst/>
            <a:gdLst/>
            <a:ahLst/>
            <a:cxn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55332" y="385444"/>
            <a:ext cx="10681335" cy="7581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53418" y="6473337"/>
            <a:ext cx="151129" cy="1917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76299" y="990600"/>
            <a:ext cx="1743075" cy="1333500"/>
            <a:chOff x="742950" y="1104900"/>
            <a:chExt cx="1743075" cy="1333500"/>
          </a:xfrm>
        </p:grpSpPr>
        <p:sp>
          <p:nvSpPr>
            <p:cNvPr id="3" name="object 3"/>
            <p:cNvSpPr/>
            <p:nvPr/>
          </p:nvSpPr>
          <p:spPr>
            <a:xfrm>
              <a:off x="742950" y="1381125"/>
              <a:ext cx="1228725" cy="1057275"/>
            </a:xfrm>
            <a:custGeom>
              <a:avLst/>
              <a:gdLst/>
              <a:ahLst/>
              <a:cxnLst/>
              <a:rect l="l" t="t" r="r" b="b"/>
              <a:pathLst>
                <a:path w="1228725" h="1057275">
                  <a:moveTo>
                    <a:pt x="964438" y="0"/>
                  </a:moveTo>
                  <a:lnTo>
                    <a:pt x="264312" y="0"/>
                  </a:lnTo>
                  <a:lnTo>
                    <a:pt x="0" y="528701"/>
                  </a:lnTo>
                  <a:lnTo>
                    <a:pt x="264312" y="1057275"/>
                  </a:lnTo>
                  <a:lnTo>
                    <a:pt x="964438" y="1057275"/>
                  </a:lnTo>
                  <a:lnTo>
                    <a:pt x="1228725" y="528701"/>
                  </a:lnTo>
                  <a:lnTo>
                    <a:pt x="964438" y="0"/>
                  </a:lnTo>
                  <a:close/>
                </a:path>
              </a:pathLst>
            </a:custGeom>
            <a:solidFill>
              <a:srgbClr val="5FCAE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838325" y="1104900"/>
              <a:ext cx="647700" cy="561975"/>
            </a:xfrm>
            <a:custGeom>
              <a:avLst/>
              <a:gdLst/>
              <a:ahLst/>
              <a:cxnLst/>
              <a:rect l="l" t="t" r="r" b="b"/>
              <a:pathLst>
                <a:path w="647700" h="561975">
                  <a:moveTo>
                    <a:pt x="507238" y="0"/>
                  </a:moveTo>
                  <a:lnTo>
                    <a:pt x="140462" y="0"/>
                  </a:lnTo>
                  <a:lnTo>
                    <a:pt x="0" y="280924"/>
                  </a:lnTo>
                  <a:lnTo>
                    <a:pt x="140462" y="561975"/>
                  </a:lnTo>
                  <a:lnTo>
                    <a:pt x="507238" y="561975"/>
                  </a:lnTo>
                  <a:lnTo>
                    <a:pt x="647700" y="280924"/>
                  </a:lnTo>
                  <a:lnTo>
                    <a:pt x="507238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3752850" y="1190625"/>
            <a:ext cx="1666875" cy="1438275"/>
          </a:xfrm>
          <a:custGeom>
            <a:avLst/>
            <a:gdLst/>
            <a:ahLst/>
            <a:cxnLst/>
            <a:rect l="l" t="t" r="r" b="b"/>
            <a:pathLst>
              <a:path w="1666875" h="1438275">
                <a:moveTo>
                  <a:pt x="1307338" y="0"/>
                </a:moveTo>
                <a:lnTo>
                  <a:pt x="359537" y="0"/>
                </a:lnTo>
                <a:lnTo>
                  <a:pt x="0" y="719074"/>
                </a:lnTo>
                <a:lnTo>
                  <a:pt x="359537" y="1438275"/>
                </a:lnTo>
                <a:lnTo>
                  <a:pt x="1307338" y="1438275"/>
                </a:lnTo>
                <a:lnTo>
                  <a:pt x="1666875" y="719074"/>
                </a:lnTo>
                <a:lnTo>
                  <a:pt x="1307338" y="0"/>
                </a:lnTo>
                <a:close/>
              </a:path>
            </a:pathLst>
          </a:custGeom>
          <a:solidFill>
            <a:srgbClr val="42D0A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800475" y="5229225"/>
            <a:ext cx="723900" cy="619125"/>
          </a:xfrm>
          <a:custGeom>
            <a:avLst/>
            <a:gdLst/>
            <a:ahLst/>
            <a:cxnLst/>
            <a:rect l="l" t="t" r="r" b="b"/>
            <a:pathLst>
              <a:path w="723900" h="619125">
                <a:moveTo>
                  <a:pt x="569087" y="0"/>
                </a:moveTo>
                <a:lnTo>
                  <a:pt x="154812" y="0"/>
                </a:lnTo>
                <a:lnTo>
                  <a:pt x="0" y="309625"/>
                </a:lnTo>
                <a:lnTo>
                  <a:pt x="154812" y="619125"/>
                </a:lnTo>
                <a:lnTo>
                  <a:pt x="569087" y="619125"/>
                </a:lnTo>
                <a:lnTo>
                  <a:pt x="723900" y="309625"/>
                </a:lnTo>
                <a:lnTo>
                  <a:pt x="569087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ctrTitle"/>
          </p:nvPr>
        </p:nvSpPr>
        <p:spPr>
          <a:xfrm>
            <a:off x="1523999" y="19665"/>
            <a:ext cx="7629525" cy="1001556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213735">
              <a:spcBef>
                <a:spcPts val="130"/>
              </a:spcBef>
            </a:pPr>
            <a:r>
              <a:rPr lang="en-US" b="1" i="0" dirty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Portfolio </a:t>
            </a:r>
            <a:r>
              <a:rPr lang="en-US" b="1" i="0" dirty="0">
                <a:solidFill>
                  <a:srgbClr val="0F0F0F"/>
                </a:solidFill>
                <a:effectLst/>
                <a:latin typeface="Roboto" panose="020F0502020204030204" pitchFamily="2" charset="0"/>
              </a:rPr>
              <a:t/>
            </a:r>
            <a:br>
              <a:rPr lang="en-US" b="1" i="0" dirty="0">
                <a:solidFill>
                  <a:srgbClr val="0F0F0F"/>
                </a:solidFill>
                <a:effectLst/>
                <a:latin typeface="Roboto" panose="020F0502020204030204" pitchFamily="2" charset="0"/>
              </a:rPr>
            </a:br>
            <a:endParaRPr spc="15" dirty="0"/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1</a:t>
            </a:fld>
            <a:endParaRPr spc="1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55ADE35-C35B-07C1-F5AA-C33B3DDB802E}"/>
              </a:ext>
            </a:extLst>
          </p:cNvPr>
          <p:cNvSpPr txBox="1"/>
          <p:nvPr/>
        </p:nvSpPr>
        <p:spPr>
          <a:xfrm>
            <a:off x="1371600" y="3314150"/>
            <a:ext cx="9793542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dirty="0"/>
              <a:t>STUDENT NAME: </a:t>
            </a:r>
            <a:r>
              <a:rPr lang="en-US" sz="2400" dirty="0" smtClean="0"/>
              <a:t>NAVANITHINI R</a:t>
            </a:r>
            <a:endParaRPr lang="en-US" sz="2400" dirty="0"/>
          </a:p>
          <a:p>
            <a:r>
              <a:rPr lang="en-US" sz="2400" dirty="0"/>
              <a:t>REGISTER NO AND NMID: </a:t>
            </a:r>
            <a:r>
              <a:rPr lang="en-US" sz="2400" dirty="0" smtClean="0"/>
              <a:t>2422K0029 AND asbruap2422k0029 </a:t>
            </a:r>
            <a:endParaRPr lang="en-US" sz="2400" dirty="0">
              <a:cs typeface="Calibri"/>
            </a:endParaRPr>
          </a:p>
          <a:p>
            <a:r>
              <a:rPr lang="en-US" sz="2400" dirty="0"/>
              <a:t>DEPARTMENT: </a:t>
            </a:r>
            <a:r>
              <a:rPr lang="en-US" sz="2400" dirty="0" smtClean="0"/>
              <a:t>COMPUTER SCIENCE</a:t>
            </a:r>
            <a:endParaRPr lang="en-US" sz="2400" dirty="0"/>
          </a:p>
          <a:p>
            <a:r>
              <a:rPr lang="en-US" sz="2400" dirty="0" smtClean="0"/>
              <a:t>COLLEGE:PPG COLLEGE OF ARTS AND SCIENCE/BHARATHIYAR </a:t>
            </a:r>
            <a:r>
              <a:rPr lang="en-US" sz="2400" dirty="0"/>
              <a:t>UNIVERSITY</a:t>
            </a:r>
          </a:p>
          <a:p>
            <a:r>
              <a:rPr lang="en-US" sz="2400" dirty="0"/>
              <a:t>           </a:t>
            </a:r>
            <a:endParaRPr lang="en-IN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496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7443849" y="0"/>
            <a:ext cx="4752975" cy="6863080"/>
            <a:chOff x="7443849" y="0"/>
            <a:chExt cx="4752975" cy="6863080"/>
          </a:xfrm>
        </p:grpSpPr>
        <p:sp>
          <p:nvSpPr>
            <p:cNvPr id="4" name="object 4"/>
            <p:cNvSpPr/>
            <p:nvPr/>
          </p:nvSpPr>
          <p:spPr>
            <a:xfrm>
              <a:off x="9377426" y="4825"/>
              <a:ext cx="1218565" cy="6853555"/>
            </a:xfrm>
            <a:custGeom>
              <a:avLst/>
              <a:gdLst/>
              <a:ahLst/>
              <a:cxnLst/>
              <a:rect l="l" t="t" r="r" b="b"/>
              <a:pathLst>
                <a:path w="1218565" h="6853555">
                  <a:moveTo>
                    <a:pt x="0" y="0"/>
                  </a:moveTo>
                  <a:lnTo>
                    <a:pt x="1218352" y="685317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448612" y="3694896"/>
              <a:ext cx="4743450" cy="3163570"/>
            </a:xfrm>
            <a:custGeom>
              <a:avLst/>
              <a:gdLst/>
              <a:ahLst/>
              <a:cxnLst/>
              <a:rect l="l" t="t" r="r" b="b"/>
              <a:pathLst>
                <a:path w="4743450" h="3163570">
                  <a:moveTo>
                    <a:pt x="4743387" y="0"/>
                  </a:moveTo>
                  <a:lnTo>
                    <a:pt x="0" y="316310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182100" y="0"/>
              <a:ext cx="3009900" cy="6858000"/>
            </a:xfrm>
            <a:custGeom>
              <a:avLst/>
              <a:gdLst/>
              <a:ahLst/>
              <a:cxnLst/>
              <a:rect l="l" t="t" r="r" b="b"/>
              <a:pathLst>
                <a:path w="3009900" h="6858000">
                  <a:moveTo>
                    <a:pt x="3009899" y="0"/>
                  </a:moveTo>
                  <a:lnTo>
                    <a:pt x="2044399" y="0"/>
                  </a:lnTo>
                  <a:lnTo>
                    <a:pt x="0" y="6857996"/>
                  </a:lnTo>
                  <a:lnTo>
                    <a:pt x="3009899" y="6857996"/>
                  </a:lnTo>
                  <a:lnTo>
                    <a:pt x="3009899" y="0"/>
                  </a:lnTo>
                  <a:close/>
                </a:path>
              </a:pathLst>
            </a:custGeom>
            <a:solidFill>
              <a:srgbClr val="5FCAEE">
                <a:alpha val="3607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602878" y="0"/>
              <a:ext cx="2589530" cy="6858000"/>
            </a:xfrm>
            <a:custGeom>
              <a:avLst/>
              <a:gdLst/>
              <a:ahLst/>
              <a:cxnLst/>
              <a:rect l="l" t="t" r="r" b="b"/>
              <a:pathLst>
                <a:path w="2589529" h="6858000">
                  <a:moveTo>
                    <a:pt x="2589120" y="0"/>
                  </a:moveTo>
                  <a:lnTo>
                    <a:pt x="0" y="0"/>
                  </a:lnTo>
                  <a:lnTo>
                    <a:pt x="1208884" y="6857996"/>
                  </a:lnTo>
                  <a:lnTo>
                    <a:pt x="2589120" y="6857996"/>
                  </a:lnTo>
                  <a:lnTo>
                    <a:pt x="2589120" y="0"/>
                  </a:lnTo>
                  <a:close/>
                </a:path>
              </a:pathLst>
            </a:custGeom>
            <a:solidFill>
              <a:srgbClr val="5FCAEE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934450" y="3048000"/>
              <a:ext cx="3257550" cy="3810000"/>
            </a:xfrm>
            <a:custGeom>
              <a:avLst/>
              <a:gdLst/>
              <a:ahLst/>
              <a:cxnLst/>
              <a:rect l="l" t="t" r="r" b="b"/>
              <a:pathLst>
                <a:path w="3257550" h="3810000">
                  <a:moveTo>
                    <a:pt x="3257550" y="0"/>
                  </a:moveTo>
                  <a:lnTo>
                    <a:pt x="0" y="3810000"/>
                  </a:lnTo>
                  <a:lnTo>
                    <a:pt x="3257550" y="381000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337930" y="0"/>
              <a:ext cx="2854325" cy="6858000"/>
            </a:xfrm>
            <a:custGeom>
              <a:avLst/>
              <a:gdLst/>
              <a:ahLst/>
              <a:cxnLst/>
              <a:rect l="l" t="t" r="r" b="b"/>
              <a:pathLst>
                <a:path w="2854325" h="6858000">
                  <a:moveTo>
                    <a:pt x="2854069" y="0"/>
                  </a:moveTo>
                  <a:lnTo>
                    <a:pt x="0" y="0"/>
                  </a:lnTo>
                  <a:lnTo>
                    <a:pt x="2470020" y="6857996"/>
                  </a:lnTo>
                  <a:lnTo>
                    <a:pt x="2854069" y="6857996"/>
                  </a:lnTo>
                  <a:lnTo>
                    <a:pt x="2854069" y="0"/>
                  </a:lnTo>
                  <a:close/>
                </a:path>
              </a:pathLst>
            </a:custGeom>
            <a:solidFill>
              <a:srgbClr val="17AFE3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96600" y="0"/>
              <a:ext cx="1295400" cy="6858000"/>
            </a:xfrm>
            <a:custGeom>
              <a:avLst/>
              <a:gdLst/>
              <a:ahLst/>
              <a:cxnLst/>
              <a:rect l="l" t="t" r="r" b="b"/>
              <a:pathLst>
                <a:path w="1295400" h="6858000">
                  <a:moveTo>
                    <a:pt x="1295399" y="0"/>
                  </a:moveTo>
                  <a:lnTo>
                    <a:pt x="1022453" y="0"/>
                  </a:lnTo>
                  <a:lnTo>
                    <a:pt x="0" y="6857996"/>
                  </a:lnTo>
                  <a:lnTo>
                    <a:pt x="1295399" y="6857996"/>
                  </a:lnTo>
                  <a:lnTo>
                    <a:pt x="1295399" y="0"/>
                  </a:lnTo>
                  <a:close/>
                </a:path>
              </a:pathLst>
            </a:custGeom>
            <a:solidFill>
              <a:srgbClr val="2D83C3">
                <a:alpha val="7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247" y="0"/>
              <a:ext cx="1256030" cy="6858000"/>
            </a:xfrm>
            <a:custGeom>
              <a:avLst/>
              <a:gdLst/>
              <a:ahLst/>
              <a:cxnLst/>
              <a:rect l="l" t="t" r="r" b="b"/>
              <a:pathLst>
                <a:path w="1256029" h="6858000">
                  <a:moveTo>
                    <a:pt x="1255752" y="0"/>
                  </a:moveTo>
                  <a:lnTo>
                    <a:pt x="0" y="0"/>
                  </a:lnTo>
                  <a:lnTo>
                    <a:pt x="1114527" y="6857996"/>
                  </a:lnTo>
                  <a:lnTo>
                    <a:pt x="1255752" y="6857996"/>
                  </a:lnTo>
                  <a:lnTo>
                    <a:pt x="1255752" y="0"/>
                  </a:lnTo>
                  <a:close/>
                </a:path>
              </a:pathLst>
            </a:custGeom>
            <a:solidFill>
              <a:srgbClr val="226192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0372725" y="3590925"/>
              <a:ext cx="1819275" cy="3267075"/>
            </a:xfrm>
            <a:custGeom>
              <a:avLst/>
              <a:gdLst/>
              <a:ahLst/>
              <a:cxnLst/>
              <a:rect l="l" t="t" r="r" b="b"/>
              <a:pathLst>
                <a:path w="1819275" h="3267075">
                  <a:moveTo>
                    <a:pt x="1819275" y="0"/>
                  </a:moveTo>
                  <a:lnTo>
                    <a:pt x="0" y="3267075"/>
                  </a:lnTo>
                  <a:lnTo>
                    <a:pt x="1819275" y="3267075"/>
                  </a:lnTo>
                  <a:lnTo>
                    <a:pt x="1819275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0" y="4010025"/>
            <a:ext cx="447675" cy="2847975"/>
          </a:xfrm>
          <a:custGeom>
            <a:avLst/>
            <a:gdLst/>
            <a:ahLst/>
            <a:cxn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>
            <a:spLocks noGrp="1"/>
          </p:cNvSpPr>
          <p:nvPr>
            <p:ph type="title"/>
          </p:nvPr>
        </p:nvSpPr>
        <p:spPr>
          <a:xfrm>
            <a:off x="739775" y="829627"/>
            <a:ext cx="3909695" cy="678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250" spc="5" dirty="0"/>
              <a:t>PROJECT</a:t>
            </a:r>
            <a:r>
              <a:rPr sz="4250" spc="-85" dirty="0"/>
              <a:t> </a:t>
            </a:r>
            <a:r>
              <a:rPr sz="4250" spc="25" dirty="0"/>
              <a:t>TITLE</a:t>
            </a:r>
            <a:endParaRPr sz="4250"/>
          </a:p>
        </p:txBody>
      </p:sp>
      <p:grpSp>
        <p:nvGrpSpPr>
          <p:cNvPr id="18" name="object 18"/>
          <p:cNvGrpSpPr/>
          <p:nvPr/>
        </p:nvGrpSpPr>
        <p:grpSpPr>
          <a:xfrm>
            <a:off x="466725" y="6410325"/>
            <a:ext cx="3705225" cy="295275"/>
            <a:chOff x="466725" y="6410325"/>
            <a:chExt cx="3705225" cy="295275"/>
          </a:xfrm>
        </p:grpSpPr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6275" y="6467475"/>
              <a:ext cx="2143125" cy="20002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6725" y="6410325"/>
              <a:ext cx="3705225" cy="295275"/>
            </a:xfrm>
            <a:prstGeom prst="rect">
              <a:avLst/>
            </a:prstGeom>
          </p:spPr>
        </p:pic>
      </p:grp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2</a:t>
            </a:fld>
            <a:endParaRPr spc="10" dirty="0"/>
          </a:p>
        </p:txBody>
      </p:sp>
      <p:sp>
        <p:nvSpPr>
          <p:cNvPr id="21" name="TextBox 20"/>
          <p:cNvSpPr txBox="1"/>
          <p:nvPr/>
        </p:nvSpPr>
        <p:spPr>
          <a:xfrm>
            <a:off x="1981200" y="2579132"/>
            <a:ext cx="11277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200" b="1" u="sng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Simple portfolio</a:t>
            </a:r>
            <a:endParaRPr lang="en-IN" sz="72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76200" y="28579"/>
            <a:ext cx="12481713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7443849" y="0"/>
            <a:ext cx="4752975" cy="6863080"/>
            <a:chOff x="7443849" y="0"/>
            <a:chExt cx="4752975" cy="6863080"/>
          </a:xfrm>
        </p:grpSpPr>
        <p:sp>
          <p:nvSpPr>
            <p:cNvPr id="4" name="object 4"/>
            <p:cNvSpPr/>
            <p:nvPr/>
          </p:nvSpPr>
          <p:spPr>
            <a:xfrm>
              <a:off x="9377426" y="4825"/>
              <a:ext cx="1218565" cy="6853555"/>
            </a:xfrm>
            <a:custGeom>
              <a:avLst/>
              <a:gdLst/>
              <a:ahLst/>
              <a:cxnLst/>
              <a:rect l="l" t="t" r="r" b="b"/>
              <a:pathLst>
                <a:path w="1218565" h="6853555">
                  <a:moveTo>
                    <a:pt x="0" y="0"/>
                  </a:moveTo>
                  <a:lnTo>
                    <a:pt x="1218352" y="685317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448612" y="3694896"/>
              <a:ext cx="4743450" cy="3163570"/>
            </a:xfrm>
            <a:custGeom>
              <a:avLst/>
              <a:gdLst/>
              <a:ahLst/>
              <a:cxnLst/>
              <a:rect l="l" t="t" r="r" b="b"/>
              <a:pathLst>
                <a:path w="4743450" h="3163570">
                  <a:moveTo>
                    <a:pt x="4743387" y="0"/>
                  </a:moveTo>
                  <a:lnTo>
                    <a:pt x="0" y="316310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182100" y="0"/>
              <a:ext cx="3009900" cy="6858000"/>
            </a:xfrm>
            <a:custGeom>
              <a:avLst/>
              <a:gdLst/>
              <a:ahLst/>
              <a:cxnLst/>
              <a:rect l="l" t="t" r="r" b="b"/>
              <a:pathLst>
                <a:path w="3009900" h="6858000">
                  <a:moveTo>
                    <a:pt x="3009899" y="0"/>
                  </a:moveTo>
                  <a:lnTo>
                    <a:pt x="2044399" y="0"/>
                  </a:lnTo>
                  <a:lnTo>
                    <a:pt x="0" y="6857996"/>
                  </a:lnTo>
                  <a:lnTo>
                    <a:pt x="3009899" y="6857996"/>
                  </a:lnTo>
                  <a:lnTo>
                    <a:pt x="3009899" y="0"/>
                  </a:lnTo>
                  <a:close/>
                </a:path>
              </a:pathLst>
            </a:custGeom>
            <a:solidFill>
              <a:srgbClr val="5FCAEE">
                <a:alpha val="3607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602878" y="0"/>
              <a:ext cx="2589530" cy="6858000"/>
            </a:xfrm>
            <a:custGeom>
              <a:avLst/>
              <a:gdLst/>
              <a:ahLst/>
              <a:cxnLst/>
              <a:rect l="l" t="t" r="r" b="b"/>
              <a:pathLst>
                <a:path w="2589529" h="6858000">
                  <a:moveTo>
                    <a:pt x="2589120" y="0"/>
                  </a:moveTo>
                  <a:lnTo>
                    <a:pt x="0" y="0"/>
                  </a:lnTo>
                  <a:lnTo>
                    <a:pt x="1208884" y="6857996"/>
                  </a:lnTo>
                  <a:lnTo>
                    <a:pt x="2589120" y="6857996"/>
                  </a:lnTo>
                  <a:lnTo>
                    <a:pt x="2589120" y="0"/>
                  </a:lnTo>
                  <a:close/>
                </a:path>
              </a:pathLst>
            </a:custGeom>
            <a:solidFill>
              <a:srgbClr val="5FCAEE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934450" y="3048000"/>
              <a:ext cx="3257550" cy="3810000"/>
            </a:xfrm>
            <a:custGeom>
              <a:avLst/>
              <a:gdLst/>
              <a:ahLst/>
              <a:cxnLst/>
              <a:rect l="l" t="t" r="r" b="b"/>
              <a:pathLst>
                <a:path w="3257550" h="3810000">
                  <a:moveTo>
                    <a:pt x="3257550" y="0"/>
                  </a:moveTo>
                  <a:lnTo>
                    <a:pt x="0" y="3810000"/>
                  </a:lnTo>
                  <a:lnTo>
                    <a:pt x="3257550" y="381000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337930" y="0"/>
              <a:ext cx="2854325" cy="6858000"/>
            </a:xfrm>
            <a:custGeom>
              <a:avLst/>
              <a:gdLst/>
              <a:ahLst/>
              <a:cxnLst/>
              <a:rect l="l" t="t" r="r" b="b"/>
              <a:pathLst>
                <a:path w="2854325" h="6858000">
                  <a:moveTo>
                    <a:pt x="2854069" y="0"/>
                  </a:moveTo>
                  <a:lnTo>
                    <a:pt x="0" y="0"/>
                  </a:lnTo>
                  <a:lnTo>
                    <a:pt x="2470020" y="6857996"/>
                  </a:lnTo>
                  <a:lnTo>
                    <a:pt x="2854069" y="6857996"/>
                  </a:lnTo>
                  <a:lnTo>
                    <a:pt x="2854069" y="0"/>
                  </a:lnTo>
                  <a:close/>
                </a:path>
              </a:pathLst>
            </a:custGeom>
            <a:solidFill>
              <a:srgbClr val="17AFE3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96600" y="0"/>
              <a:ext cx="1295400" cy="6858000"/>
            </a:xfrm>
            <a:custGeom>
              <a:avLst/>
              <a:gdLst/>
              <a:ahLst/>
              <a:cxnLst/>
              <a:rect l="l" t="t" r="r" b="b"/>
              <a:pathLst>
                <a:path w="1295400" h="6858000">
                  <a:moveTo>
                    <a:pt x="1295399" y="0"/>
                  </a:moveTo>
                  <a:lnTo>
                    <a:pt x="1022453" y="0"/>
                  </a:lnTo>
                  <a:lnTo>
                    <a:pt x="0" y="6857996"/>
                  </a:lnTo>
                  <a:lnTo>
                    <a:pt x="1295399" y="6857996"/>
                  </a:lnTo>
                  <a:lnTo>
                    <a:pt x="1295399" y="0"/>
                  </a:lnTo>
                  <a:close/>
                </a:path>
              </a:pathLst>
            </a:custGeom>
            <a:solidFill>
              <a:srgbClr val="2D83C3">
                <a:alpha val="7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247" y="0"/>
              <a:ext cx="1256030" cy="6858000"/>
            </a:xfrm>
            <a:custGeom>
              <a:avLst/>
              <a:gdLst/>
              <a:ahLst/>
              <a:cxnLst/>
              <a:rect l="l" t="t" r="r" b="b"/>
              <a:pathLst>
                <a:path w="1256029" h="6858000">
                  <a:moveTo>
                    <a:pt x="1255752" y="0"/>
                  </a:moveTo>
                  <a:lnTo>
                    <a:pt x="0" y="0"/>
                  </a:lnTo>
                  <a:lnTo>
                    <a:pt x="1114527" y="6857996"/>
                  </a:lnTo>
                  <a:lnTo>
                    <a:pt x="1255752" y="6857996"/>
                  </a:lnTo>
                  <a:lnTo>
                    <a:pt x="1255752" y="0"/>
                  </a:lnTo>
                  <a:close/>
                </a:path>
              </a:pathLst>
            </a:custGeom>
            <a:solidFill>
              <a:srgbClr val="226192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0372725" y="3590925"/>
              <a:ext cx="1819275" cy="3267075"/>
            </a:xfrm>
            <a:custGeom>
              <a:avLst/>
              <a:gdLst/>
              <a:ahLst/>
              <a:cxnLst/>
              <a:rect l="l" t="t" r="r" b="b"/>
              <a:pathLst>
                <a:path w="1819275" h="3267075">
                  <a:moveTo>
                    <a:pt x="1819275" y="0"/>
                  </a:moveTo>
                  <a:lnTo>
                    <a:pt x="0" y="3267075"/>
                  </a:lnTo>
                  <a:lnTo>
                    <a:pt x="1819275" y="3267075"/>
                  </a:lnTo>
                  <a:lnTo>
                    <a:pt x="1819275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0" y="4010025"/>
            <a:ext cx="447675" cy="2847975"/>
          </a:xfrm>
          <a:custGeom>
            <a:avLst/>
            <a:gdLst/>
            <a:ahLst/>
            <a:cxn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52475" y="6486037"/>
            <a:ext cx="1773555" cy="1663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275"/>
              </a:lnSpc>
            </a:pPr>
            <a:r>
              <a:rPr sz="1100" spc="20" dirty="0">
                <a:solidFill>
                  <a:srgbClr val="2D83C3"/>
                </a:solidFill>
                <a:latin typeface="Trebuchet MS"/>
                <a:cs typeface="Trebuchet MS"/>
              </a:rPr>
              <a:t>3/21/202</a:t>
            </a:r>
            <a:r>
              <a:rPr sz="1100" spc="10" dirty="0">
                <a:solidFill>
                  <a:srgbClr val="2D83C3"/>
                </a:solidFill>
                <a:latin typeface="Trebuchet MS"/>
                <a:cs typeface="Trebuchet MS"/>
              </a:rPr>
              <a:t>4</a:t>
            </a:r>
            <a:r>
              <a:rPr sz="110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spc="13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b="1" spc="50" dirty="0">
                <a:solidFill>
                  <a:srgbClr val="2D83C3"/>
                </a:solidFill>
                <a:latin typeface="Trebuchet MS"/>
                <a:cs typeface="Trebuchet MS"/>
              </a:rPr>
              <a:t>A</a:t>
            </a:r>
            <a:r>
              <a:rPr sz="1100" b="1" spc="15" dirty="0">
                <a:solidFill>
                  <a:srgbClr val="2D83C3"/>
                </a:solidFill>
                <a:latin typeface="Trebuchet MS"/>
                <a:cs typeface="Trebuchet MS"/>
              </a:rPr>
              <a:t>nnu</a:t>
            </a:r>
            <a:r>
              <a:rPr sz="1100" b="1" spc="10" dirty="0">
                <a:solidFill>
                  <a:srgbClr val="2D83C3"/>
                </a:solidFill>
                <a:latin typeface="Trebuchet MS"/>
                <a:cs typeface="Trebuchet MS"/>
              </a:rPr>
              <a:t>al</a:t>
            </a:r>
            <a:r>
              <a:rPr sz="1100" b="1" spc="-14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b="1" dirty="0">
                <a:solidFill>
                  <a:srgbClr val="2D83C3"/>
                </a:solidFill>
                <a:latin typeface="Trebuchet MS"/>
                <a:cs typeface="Trebuchet MS"/>
              </a:rPr>
              <a:t>R</a:t>
            </a:r>
            <a:r>
              <a:rPr sz="1100" b="1" spc="35" dirty="0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sz="1100" b="1" spc="90" dirty="0">
                <a:solidFill>
                  <a:srgbClr val="2D83C3"/>
                </a:solidFill>
                <a:latin typeface="Trebuchet MS"/>
                <a:cs typeface="Trebuchet MS"/>
              </a:rPr>
              <a:t>v</a:t>
            </a:r>
            <a:r>
              <a:rPr sz="1100" b="1" spc="-35" dirty="0">
                <a:solidFill>
                  <a:srgbClr val="2D83C3"/>
                </a:solidFill>
                <a:latin typeface="Trebuchet MS"/>
                <a:cs typeface="Trebuchet MS"/>
              </a:rPr>
              <a:t>i</a:t>
            </a:r>
            <a:r>
              <a:rPr sz="1100" b="1" spc="35" dirty="0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sz="1100" b="1" spc="15" dirty="0">
                <a:solidFill>
                  <a:srgbClr val="2D83C3"/>
                </a:solidFill>
                <a:latin typeface="Trebuchet MS"/>
                <a:cs typeface="Trebuchet MS"/>
              </a:rPr>
              <a:t>w</a:t>
            </a:r>
            <a:endParaRPr sz="1100">
              <a:latin typeface="Trebuchet MS"/>
              <a:cs typeface="Trebuchet M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7362825" y="447675"/>
            <a:ext cx="361950" cy="361950"/>
          </a:xfrm>
          <a:custGeom>
            <a:avLst/>
            <a:gdLst/>
            <a:ahLst/>
            <a:cxnLst/>
            <a:rect l="l" t="t" r="r" b="b"/>
            <a:pathLst>
              <a:path w="361950" h="361950">
                <a:moveTo>
                  <a:pt x="180975" y="0"/>
                </a:moveTo>
                <a:lnTo>
                  <a:pt x="132864" y="6464"/>
                </a:lnTo>
                <a:lnTo>
                  <a:pt x="89633" y="24708"/>
                </a:lnTo>
                <a:lnTo>
                  <a:pt x="53006" y="53006"/>
                </a:lnTo>
                <a:lnTo>
                  <a:pt x="24708" y="89633"/>
                </a:lnTo>
                <a:lnTo>
                  <a:pt x="6464" y="132864"/>
                </a:lnTo>
                <a:lnTo>
                  <a:pt x="0" y="180975"/>
                </a:lnTo>
                <a:lnTo>
                  <a:pt x="6464" y="229085"/>
                </a:lnTo>
                <a:lnTo>
                  <a:pt x="24708" y="272316"/>
                </a:lnTo>
                <a:lnTo>
                  <a:pt x="53006" y="308943"/>
                </a:lnTo>
                <a:lnTo>
                  <a:pt x="89633" y="337241"/>
                </a:lnTo>
                <a:lnTo>
                  <a:pt x="132864" y="355485"/>
                </a:lnTo>
                <a:lnTo>
                  <a:pt x="180975" y="361950"/>
                </a:lnTo>
                <a:lnTo>
                  <a:pt x="229085" y="355485"/>
                </a:lnTo>
                <a:lnTo>
                  <a:pt x="272316" y="337241"/>
                </a:lnTo>
                <a:lnTo>
                  <a:pt x="308943" y="308943"/>
                </a:lnTo>
                <a:lnTo>
                  <a:pt x="337241" y="272316"/>
                </a:lnTo>
                <a:lnTo>
                  <a:pt x="355485" y="229085"/>
                </a:lnTo>
                <a:lnTo>
                  <a:pt x="361950" y="180975"/>
                </a:lnTo>
                <a:lnTo>
                  <a:pt x="355485" y="132864"/>
                </a:lnTo>
                <a:lnTo>
                  <a:pt x="337241" y="89633"/>
                </a:lnTo>
                <a:lnTo>
                  <a:pt x="308943" y="53006"/>
                </a:lnTo>
                <a:lnTo>
                  <a:pt x="272316" y="24708"/>
                </a:lnTo>
                <a:lnTo>
                  <a:pt x="229085" y="6464"/>
                </a:lnTo>
                <a:lnTo>
                  <a:pt x="180975" y="0"/>
                </a:lnTo>
                <a:close/>
              </a:path>
            </a:pathLst>
          </a:custGeom>
          <a:solidFill>
            <a:srgbClr val="EBEB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1010900" y="5610225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>
                <a:moveTo>
                  <a:pt x="323850" y="0"/>
                </a:moveTo>
                <a:lnTo>
                  <a:pt x="276003" y="3511"/>
                </a:lnTo>
                <a:lnTo>
                  <a:pt x="230332" y="13711"/>
                </a:lnTo>
                <a:lnTo>
                  <a:pt x="187340" y="30099"/>
                </a:lnTo>
                <a:lnTo>
                  <a:pt x="147528" y="52175"/>
                </a:lnTo>
                <a:lnTo>
                  <a:pt x="111397" y="79436"/>
                </a:lnTo>
                <a:lnTo>
                  <a:pt x="79448" y="111381"/>
                </a:lnTo>
                <a:lnTo>
                  <a:pt x="52184" y="147511"/>
                </a:lnTo>
                <a:lnTo>
                  <a:pt x="30106" y="187324"/>
                </a:lnTo>
                <a:lnTo>
                  <a:pt x="13714" y="230319"/>
                </a:lnTo>
                <a:lnTo>
                  <a:pt x="3512" y="275994"/>
                </a:lnTo>
                <a:lnTo>
                  <a:pt x="0" y="323850"/>
                </a:lnTo>
                <a:lnTo>
                  <a:pt x="3512" y="371705"/>
                </a:lnTo>
                <a:lnTo>
                  <a:pt x="13714" y="417380"/>
                </a:lnTo>
                <a:lnTo>
                  <a:pt x="30106" y="460375"/>
                </a:lnTo>
                <a:lnTo>
                  <a:pt x="52184" y="500188"/>
                </a:lnTo>
                <a:lnTo>
                  <a:pt x="79448" y="536318"/>
                </a:lnTo>
                <a:lnTo>
                  <a:pt x="111397" y="568263"/>
                </a:lnTo>
                <a:lnTo>
                  <a:pt x="147528" y="595524"/>
                </a:lnTo>
                <a:lnTo>
                  <a:pt x="187340" y="617600"/>
                </a:lnTo>
                <a:lnTo>
                  <a:pt x="230332" y="633988"/>
                </a:lnTo>
                <a:lnTo>
                  <a:pt x="276003" y="644188"/>
                </a:lnTo>
                <a:lnTo>
                  <a:pt x="323850" y="647700"/>
                </a:lnTo>
                <a:lnTo>
                  <a:pt x="371696" y="644188"/>
                </a:lnTo>
                <a:lnTo>
                  <a:pt x="417367" y="633988"/>
                </a:lnTo>
                <a:lnTo>
                  <a:pt x="460359" y="617600"/>
                </a:lnTo>
                <a:lnTo>
                  <a:pt x="500171" y="595524"/>
                </a:lnTo>
                <a:lnTo>
                  <a:pt x="536302" y="568263"/>
                </a:lnTo>
                <a:lnTo>
                  <a:pt x="568251" y="536318"/>
                </a:lnTo>
                <a:lnTo>
                  <a:pt x="595515" y="500188"/>
                </a:lnTo>
                <a:lnTo>
                  <a:pt x="617593" y="460375"/>
                </a:lnTo>
                <a:lnTo>
                  <a:pt x="633985" y="417380"/>
                </a:lnTo>
                <a:lnTo>
                  <a:pt x="644187" y="371705"/>
                </a:lnTo>
                <a:lnTo>
                  <a:pt x="647700" y="323850"/>
                </a:lnTo>
                <a:lnTo>
                  <a:pt x="644187" y="275994"/>
                </a:lnTo>
                <a:lnTo>
                  <a:pt x="633985" y="230319"/>
                </a:lnTo>
                <a:lnTo>
                  <a:pt x="617593" y="187324"/>
                </a:lnTo>
                <a:lnTo>
                  <a:pt x="595515" y="147511"/>
                </a:lnTo>
                <a:lnTo>
                  <a:pt x="568251" y="111381"/>
                </a:lnTo>
                <a:lnTo>
                  <a:pt x="536302" y="79436"/>
                </a:lnTo>
                <a:lnTo>
                  <a:pt x="500171" y="52175"/>
                </a:lnTo>
                <a:lnTo>
                  <a:pt x="460359" y="30099"/>
                </a:lnTo>
                <a:lnTo>
                  <a:pt x="417367" y="13711"/>
                </a:lnTo>
                <a:lnTo>
                  <a:pt x="371696" y="3511"/>
                </a:lnTo>
                <a:lnTo>
                  <a:pt x="323850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87050" y="6134100"/>
            <a:ext cx="247650" cy="247650"/>
          </a:xfrm>
          <a:prstGeom prst="rect">
            <a:avLst/>
          </a:prstGeom>
        </p:spPr>
      </p:pic>
      <p:grpSp>
        <p:nvGrpSpPr>
          <p:cNvPr id="18" name="object 18"/>
          <p:cNvGrpSpPr/>
          <p:nvPr/>
        </p:nvGrpSpPr>
        <p:grpSpPr>
          <a:xfrm>
            <a:off x="47625" y="3819523"/>
            <a:ext cx="4124325" cy="3009900"/>
            <a:chOff x="47625" y="3819523"/>
            <a:chExt cx="4124325" cy="3009900"/>
          </a:xfrm>
        </p:grpSpPr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6725" y="6410325"/>
              <a:ext cx="3705225" cy="29527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7625" y="3819523"/>
              <a:ext cx="1733550" cy="3009898"/>
            </a:xfrm>
            <a:prstGeom prst="rect">
              <a:avLst/>
            </a:prstGeom>
          </p:spPr>
        </p:pic>
      </p:grpSp>
      <p:sp>
        <p:nvSpPr>
          <p:cNvPr id="21" name="object 21"/>
          <p:cNvSpPr txBox="1">
            <a:spLocks noGrp="1"/>
          </p:cNvSpPr>
          <p:nvPr>
            <p:ph type="title"/>
          </p:nvPr>
        </p:nvSpPr>
        <p:spPr>
          <a:xfrm>
            <a:off x="739775" y="445388"/>
            <a:ext cx="2357120" cy="758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25" dirty="0"/>
              <a:t>A</a:t>
            </a:r>
            <a:r>
              <a:rPr spc="-5" dirty="0"/>
              <a:t>G</a:t>
            </a:r>
            <a:r>
              <a:rPr spc="-35" dirty="0"/>
              <a:t>E</a:t>
            </a:r>
            <a:r>
              <a:rPr spc="15" dirty="0"/>
              <a:t>N</a:t>
            </a:r>
            <a:r>
              <a:rPr dirty="0"/>
              <a:t>DA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3</a:t>
            </a:fld>
            <a:endParaRPr spc="1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D0827FA3-A9D4-0FE5-45BE-664C8C920E82}"/>
              </a:ext>
            </a:extLst>
          </p:cNvPr>
          <p:cNvSpPr txBox="1"/>
          <p:nvPr/>
        </p:nvSpPr>
        <p:spPr>
          <a:xfrm>
            <a:off x="2509807" y="1041533"/>
            <a:ext cx="502920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End Users</a:t>
            </a:r>
          </a:p>
          <a:p>
            <a:pPr algn="l">
              <a:buFont typeface="+mj-lt"/>
              <a:buAutoNum type="arabicPeriod"/>
            </a:pP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Portfolio design and Layout</a:t>
            </a:r>
          </a:p>
          <a:p>
            <a:pPr algn="l">
              <a:buFont typeface="+mj-lt"/>
              <a:buAutoNum type="arabicPeriod"/>
            </a:pP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Features and Functionality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Results and </a:t>
            </a: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Screenshots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algn="l">
              <a:buFont typeface="+mj-lt"/>
              <a:buAutoNum type="arabicPeriod"/>
            </a:pPr>
            <a:r>
              <a:rPr lang="en-US" sz="2800" dirty="0" err="1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Link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991475" y="2933700"/>
            <a:ext cx="2762250" cy="3257550"/>
            <a:chOff x="7991475" y="2933700"/>
            <a:chExt cx="2762250" cy="3257550"/>
          </a:xfrm>
        </p:grpSpPr>
        <p:sp>
          <p:nvSpPr>
            <p:cNvPr id="3" name="object 3"/>
            <p:cNvSpPr/>
            <p:nvPr/>
          </p:nvSpPr>
          <p:spPr>
            <a:xfrm>
              <a:off x="9353550" y="53625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4572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57200" y="457200"/>
                  </a:lnTo>
                  <a:lnTo>
                    <a:pt x="457200" y="0"/>
                  </a:lnTo>
                  <a:close/>
                </a:path>
              </a:pathLst>
            </a:custGeom>
            <a:solidFill>
              <a:srgbClr val="42AF5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353550" y="5895975"/>
              <a:ext cx="180975" cy="180975"/>
            </a:xfrm>
            <a:custGeom>
              <a:avLst/>
              <a:gdLst/>
              <a:ahLst/>
              <a:cxnLst/>
              <a:rect l="l" t="t" r="r" b="b"/>
              <a:pathLst>
                <a:path w="180975" h="180975">
                  <a:moveTo>
                    <a:pt x="180975" y="0"/>
                  </a:moveTo>
                  <a:lnTo>
                    <a:pt x="0" y="0"/>
                  </a:lnTo>
                  <a:lnTo>
                    <a:pt x="0" y="180975"/>
                  </a:lnTo>
                  <a:lnTo>
                    <a:pt x="180975" y="180975"/>
                  </a:lnTo>
                  <a:lnTo>
                    <a:pt x="180975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91475" y="2933700"/>
              <a:ext cx="2762250" cy="3257550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371600" y="533400"/>
            <a:ext cx="6619875" cy="670696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2727960" algn="l"/>
              </a:tabLst>
            </a:pPr>
            <a:r>
              <a:rPr sz="4250" spc="-20" dirty="0"/>
              <a:t>P</a:t>
            </a:r>
            <a:r>
              <a:rPr sz="4250" spc="15" dirty="0"/>
              <a:t>ROB</a:t>
            </a:r>
            <a:r>
              <a:rPr sz="4250" spc="55" dirty="0"/>
              <a:t>L</a:t>
            </a:r>
            <a:r>
              <a:rPr sz="4250" spc="-20" dirty="0"/>
              <a:t>E</a:t>
            </a:r>
            <a:r>
              <a:rPr sz="4250" spc="20" dirty="0"/>
              <a:t>M</a:t>
            </a:r>
            <a:r>
              <a:rPr sz="4250" dirty="0"/>
              <a:t>	</a:t>
            </a:r>
            <a:r>
              <a:rPr sz="4250" spc="10" dirty="0"/>
              <a:t>S</a:t>
            </a:r>
            <a:r>
              <a:rPr sz="4250" spc="-370" dirty="0"/>
              <a:t>T</a:t>
            </a:r>
            <a:r>
              <a:rPr sz="4250" spc="-375" dirty="0"/>
              <a:t>A</a:t>
            </a:r>
            <a:r>
              <a:rPr sz="4250" spc="15" dirty="0"/>
              <a:t>T</a:t>
            </a:r>
            <a:r>
              <a:rPr sz="4250" spc="-10" dirty="0"/>
              <a:t>E</a:t>
            </a:r>
            <a:r>
              <a:rPr sz="4250" spc="-20" dirty="0"/>
              <a:t>ME</a:t>
            </a:r>
            <a:r>
              <a:rPr sz="4250" spc="10" dirty="0"/>
              <a:t>NT</a:t>
            </a:r>
            <a:endParaRPr sz="4250" dirty="0"/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4</a:t>
            </a:fld>
            <a:endParaRPr spc="10" dirty="0"/>
          </a:p>
        </p:txBody>
      </p:sp>
      <p:sp>
        <p:nvSpPr>
          <p:cNvPr id="79" name="Rectangle 78"/>
          <p:cNvSpPr/>
          <p:nvPr/>
        </p:nvSpPr>
        <p:spPr>
          <a:xfrm>
            <a:off x="76200" y="2413338"/>
            <a:ext cx="90678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In today’s digital world, having an online presence is essential for students and professionals. Many students lack a central platform to showcase their skills, academic background, and projects to potential recruiters or collaborators. The goal of this project is to create a </a:t>
            </a:r>
            <a:r>
              <a:rPr lang="en-GB" b="1" dirty="0"/>
              <a:t>personal portfolio website</a:t>
            </a:r>
            <a:r>
              <a:rPr lang="en-GB" dirty="0"/>
              <a:t> for </a:t>
            </a:r>
            <a:r>
              <a:rPr lang="en-GB" dirty="0" err="1"/>
              <a:t>Navanithini</a:t>
            </a:r>
            <a:r>
              <a:rPr lang="en-GB" dirty="0"/>
              <a:t>, a Computer Science student, to present her qualifications and achievements effectively.</a:t>
            </a:r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658225" y="2647950"/>
            <a:ext cx="3533775" cy="3810000"/>
            <a:chOff x="8658225" y="2647950"/>
            <a:chExt cx="3533775" cy="3810000"/>
          </a:xfrm>
        </p:grpSpPr>
        <p:sp>
          <p:nvSpPr>
            <p:cNvPr id="3" name="object 3"/>
            <p:cNvSpPr/>
            <p:nvPr/>
          </p:nvSpPr>
          <p:spPr>
            <a:xfrm>
              <a:off x="9353550" y="53625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4572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57200" y="457200"/>
                  </a:lnTo>
                  <a:lnTo>
                    <a:pt x="457200" y="0"/>
                  </a:lnTo>
                  <a:close/>
                </a:path>
              </a:pathLst>
            </a:custGeom>
            <a:solidFill>
              <a:srgbClr val="42AF5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353550" y="5895975"/>
              <a:ext cx="180975" cy="180975"/>
            </a:xfrm>
            <a:custGeom>
              <a:avLst/>
              <a:gdLst/>
              <a:ahLst/>
              <a:cxnLst/>
              <a:rect l="l" t="t" r="r" b="b"/>
              <a:pathLst>
                <a:path w="180975" h="180975">
                  <a:moveTo>
                    <a:pt x="180975" y="0"/>
                  </a:moveTo>
                  <a:lnTo>
                    <a:pt x="0" y="0"/>
                  </a:lnTo>
                  <a:lnTo>
                    <a:pt x="0" y="180975"/>
                  </a:lnTo>
                  <a:lnTo>
                    <a:pt x="180975" y="180975"/>
                  </a:lnTo>
                  <a:lnTo>
                    <a:pt x="180975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58225" y="2647950"/>
              <a:ext cx="3533775" cy="3810000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39775" y="829627"/>
            <a:ext cx="5263515" cy="678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2642870" algn="l"/>
              </a:tabLst>
            </a:pPr>
            <a:r>
              <a:rPr sz="4250" spc="5" dirty="0" smtClean="0"/>
              <a:t>PROJECT	</a:t>
            </a:r>
            <a:r>
              <a:rPr sz="4250" spc="-20" dirty="0" smtClean="0"/>
              <a:t>OVERVIEW</a:t>
            </a:r>
            <a:endParaRPr sz="4250" dirty="0"/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5</a:t>
            </a:fld>
            <a:endParaRPr spc="10" dirty="0"/>
          </a:p>
        </p:txBody>
      </p:sp>
      <p:sp>
        <p:nvSpPr>
          <p:cNvPr id="9" name="Rectangle 8"/>
          <p:cNvSpPr/>
          <p:nvPr/>
        </p:nvSpPr>
        <p:spPr>
          <a:xfrm>
            <a:off x="304801" y="2557908"/>
            <a:ext cx="885769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This project involves the development of a </a:t>
            </a:r>
            <a:r>
              <a:rPr lang="en-GB" b="1" dirty="0"/>
              <a:t>responsive and simple portfolio website</a:t>
            </a:r>
            <a:r>
              <a:rPr lang="en-GB" dirty="0"/>
              <a:t> using HTML and CSS. The site allows </a:t>
            </a:r>
            <a:r>
              <a:rPr lang="en-GB" dirty="0" err="1"/>
              <a:t>Navanithini</a:t>
            </a:r>
            <a:r>
              <a:rPr lang="en-GB" dirty="0"/>
              <a:t> to introduce herself, highlight her skills and academic projects, and provide contact information for networking or job opportunities. The website is designed to be user-friendly and visually clean.</a:t>
            </a:r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99452" y="891793"/>
            <a:ext cx="5014595" cy="51815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25" dirty="0"/>
              <a:t>W</a:t>
            </a:r>
            <a:r>
              <a:rPr sz="3200" spc="-20" dirty="0"/>
              <a:t>H</a:t>
            </a:r>
            <a:r>
              <a:rPr sz="3200" spc="20" dirty="0"/>
              <a:t>O</a:t>
            </a:r>
            <a:r>
              <a:rPr sz="3200" spc="-235" dirty="0"/>
              <a:t> </a:t>
            </a:r>
            <a:r>
              <a:rPr sz="3200" spc="-10" dirty="0"/>
              <a:t>AR</a:t>
            </a:r>
            <a:r>
              <a:rPr sz="3200" spc="15" dirty="0"/>
              <a:t>E</a:t>
            </a:r>
            <a:r>
              <a:rPr sz="3200" spc="-35" dirty="0"/>
              <a:t> </a:t>
            </a:r>
            <a:r>
              <a:rPr sz="3200" spc="-10" dirty="0"/>
              <a:t>T</a:t>
            </a:r>
            <a:r>
              <a:rPr sz="3200" spc="-15" dirty="0"/>
              <a:t>H</a:t>
            </a:r>
            <a:r>
              <a:rPr sz="3200" spc="15" dirty="0"/>
              <a:t>E</a:t>
            </a:r>
            <a:r>
              <a:rPr sz="3200" spc="-35" dirty="0"/>
              <a:t> </a:t>
            </a:r>
            <a:r>
              <a:rPr sz="3200" spc="-20" dirty="0"/>
              <a:t>E</a:t>
            </a:r>
            <a:r>
              <a:rPr sz="3200" spc="30" dirty="0"/>
              <a:t>N</a:t>
            </a:r>
            <a:r>
              <a:rPr sz="3200" spc="15" dirty="0"/>
              <a:t>D</a:t>
            </a:r>
            <a:r>
              <a:rPr sz="3200" spc="-45" dirty="0"/>
              <a:t> </a:t>
            </a:r>
            <a:r>
              <a:rPr sz="3200" dirty="0"/>
              <a:t>U</a:t>
            </a:r>
            <a:r>
              <a:rPr sz="3200" spc="10" dirty="0"/>
              <a:t>S</a:t>
            </a:r>
            <a:r>
              <a:rPr sz="3200" spc="-25" dirty="0"/>
              <a:t>E</a:t>
            </a:r>
            <a:r>
              <a:rPr sz="3200" spc="-10" dirty="0"/>
              <a:t>R</a:t>
            </a:r>
            <a:r>
              <a:rPr sz="3200" spc="5" dirty="0"/>
              <a:t>S?</a:t>
            </a:r>
            <a:endParaRPr sz="3200"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3900" y="6172200"/>
            <a:ext cx="2181225" cy="485775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6</a:t>
            </a:fld>
            <a:endParaRPr spc="10" dirty="0"/>
          </a:p>
        </p:txBody>
      </p:sp>
      <p:sp>
        <p:nvSpPr>
          <p:cNvPr id="7" name="Rectangle 6"/>
          <p:cNvSpPr/>
          <p:nvPr/>
        </p:nvSpPr>
        <p:spPr>
          <a:xfrm>
            <a:off x="704067" y="2362200"/>
            <a:ext cx="84201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The portfolio website is aimed at the following users:</a:t>
            </a:r>
          </a:p>
          <a:p>
            <a:r>
              <a:rPr lang="en-GB" b="1" dirty="0"/>
              <a:t>Recruiters and Employers</a:t>
            </a:r>
            <a:r>
              <a:rPr lang="en-GB" dirty="0"/>
              <a:t> looking for fresh talent in software development.</a:t>
            </a:r>
          </a:p>
          <a:p>
            <a:r>
              <a:rPr lang="en-GB" b="1" dirty="0"/>
              <a:t>Academic institutions</a:t>
            </a:r>
            <a:r>
              <a:rPr lang="en-GB" dirty="0"/>
              <a:t> or mentors reviewing student work.</a:t>
            </a:r>
          </a:p>
          <a:p>
            <a:r>
              <a:rPr lang="en-GB" b="1" dirty="0"/>
              <a:t>Peers and collaborators</a:t>
            </a:r>
            <a:r>
              <a:rPr lang="en-GB" dirty="0"/>
              <a:t> interested in teaming up on tech projects.</a:t>
            </a:r>
          </a:p>
          <a:p>
            <a:r>
              <a:rPr lang="en-GB" b="1" dirty="0"/>
              <a:t>General visitors</a:t>
            </a:r>
            <a:r>
              <a:rPr lang="en-GB" dirty="0"/>
              <a:t> who want to learn more about </a:t>
            </a:r>
            <a:r>
              <a:rPr lang="en-GB" dirty="0" err="1"/>
              <a:t>Navanithini's</a:t>
            </a:r>
            <a:r>
              <a:rPr lang="en-GB" dirty="0"/>
              <a:t> skills and background.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476375"/>
            <a:ext cx="2695574" cy="3248025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58165" y="857885"/>
            <a:ext cx="9763125" cy="5753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sz="3600" spc="10" dirty="0"/>
              <a:t>TOOLS AND TECHNIQUES</a:t>
            </a:r>
            <a:endParaRPr sz="3600" dirty="0"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7</a:t>
            </a:fld>
            <a:endParaRPr spc="10" dirty="0"/>
          </a:p>
        </p:txBody>
      </p:sp>
      <p:sp>
        <p:nvSpPr>
          <p:cNvPr id="8" name="Rectangle 7"/>
          <p:cNvSpPr/>
          <p:nvPr/>
        </p:nvSpPr>
        <p:spPr>
          <a:xfrm>
            <a:off x="3048000" y="2413338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/>
              <a:t>HTML5</a:t>
            </a:r>
            <a:r>
              <a:rPr lang="en-GB" dirty="0"/>
              <a:t> – To structure the content of the portfolio.</a:t>
            </a:r>
          </a:p>
          <a:p>
            <a:r>
              <a:rPr lang="en-GB" b="1" dirty="0"/>
              <a:t>CSS3</a:t>
            </a:r>
            <a:r>
              <a:rPr lang="en-GB" dirty="0"/>
              <a:t> – For styling the layout and responsiveness.</a:t>
            </a:r>
          </a:p>
          <a:p>
            <a:r>
              <a:rPr lang="en-GB" i="1" dirty="0"/>
              <a:t>(Optional extensions):</a:t>
            </a:r>
            <a:endParaRPr lang="en-GB" dirty="0"/>
          </a:p>
          <a:p>
            <a:pPr lvl="1"/>
            <a:r>
              <a:rPr lang="en-GB" b="1" dirty="0"/>
              <a:t>JavaScript</a:t>
            </a:r>
            <a:r>
              <a:rPr lang="en-GB" dirty="0"/>
              <a:t> – For interactive elements (e.g., theme toggle, dynamic content).</a:t>
            </a:r>
          </a:p>
          <a:p>
            <a:pPr lvl="1"/>
            <a:r>
              <a:rPr lang="en-GB" b="1" dirty="0" err="1"/>
              <a:t>GitHub</a:t>
            </a:r>
            <a:r>
              <a:rPr lang="en-GB" dirty="0"/>
              <a:t> – To host and manage version control of the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6875" y="6467475"/>
            <a:ext cx="76200" cy="17780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1277218" y="6473337"/>
            <a:ext cx="228600" cy="19177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z="1100" spc="10" dirty="0">
                <a:solidFill>
                  <a:srgbClr val="2D936B"/>
                </a:solidFill>
                <a:latin typeface="Trebuchet MS"/>
                <a:cs typeface="Trebuchet MS"/>
              </a:rPr>
              <a:t>8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39775" y="291147"/>
            <a:ext cx="8794750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sz="4000" b="1" spc="15" dirty="0">
                <a:latin typeface="Trebuchet MS"/>
                <a:cs typeface="Trebuchet MS"/>
              </a:rPr>
              <a:t>POTFOLIO DESIGN AND LAYOUT</a:t>
            </a:r>
            <a:endParaRPr sz="4000" dirty="0">
              <a:latin typeface="Trebuchet MS"/>
              <a:cs typeface="Trebuchet MS"/>
            </a:endParaRPr>
          </a:p>
        </p:txBody>
      </p:sp>
      <p:sp>
        <p:nvSpPr>
          <p:cNvPr id="14" name="object 3"/>
          <p:cNvSpPr/>
          <p:nvPr/>
        </p:nvSpPr>
        <p:spPr>
          <a:xfrm>
            <a:off x="10058400" y="52514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90600" y="1676400"/>
            <a:ext cx="64008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The portfolio consists of the following </a:t>
            </a:r>
            <a:r>
              <a:rPr lang="en-GB" b="1" dirty="0"/>
              <a:t>sections</a:t>
            </a:r>
            <a:r>
              <a:rPr lang="en-GB" dirty="0"/>
              <a:t>:</a:t>
            </a:r>
          </a:p>
          <a:p>
            <a:r>
              <a:rPr lang="en-GB" b="1" dirty="0"/>
              <a:t>Header</a:t>
            </a:r>
            <a:r>
              <a:rPr lang="en-GB" dirty="0"/>
              <a:t> – Includes name and short tagline.</a:t>
            </a:r>
          </a:p>
          <a:p>
            <a:r>
              <a:rPr lang="en-GB" b="1" dirty="0"/>
              <a:t>Navigation Bar</a:t>
            </a:r>
            <a:r>
              <a:rPr lang="en-GB" dirty="0"/>
              <a:t> – Links to different sections (About, Projects, Contact).</a:t>
            </a:r>
          </a:p>
          <a:p>
            <a:r>
              <a:rPr lang="en-GB" b="1" dirty="0"/>
              <a:t>About Section</a:t>
            </a:r>
            <a:r>
              <a:rPr lang="en-GB" dirty="0"/>
              <a:t> – Brief introduction and background.</a:t>
            </a:r>
          </a:p>
          <a:p>
            <a:r>
              <a:rPr lang="en-GB" b="1" dirty="0"/>
              <a:t>Projects Section</a:t>
            </a:r>
            <a:r>
              <a:rPr lang="en-GB" dirty="0"/>
              <a:t> – List of academic or personal projects with descriptions.</a:t>
            </a:r>
          </a:p>
          <a:p>
            <a:r>
              <a:rPr lang="en-GB" b="1" dirty="0"/>
              <a:t>Contact Section</a:t>
            </a:r>
            <a:r>
              <a:rPr lang="en-GB" dirty="0"/>
              <a:t> – Email, </a:t>
            </a:r>
            <a:r>
              <a:rPr lang="en-GB" dirty="0" err="1"/>
              <a:t>GitHub</a:t>
            </a:r>
            <a:r>
              <a:rPr lang="en-GB" dirty="0"/>
              <a:t>, LinkedIn.</a:t>
            </a:r>
          </a:p>
          <a:p>
            <a:r>
              <a:rPr lang="en-GB" b="1" dirty="0"/>
              <a:t>Footer</a:t>
            </a:r>
            <a:r>
              <a:rPr lang="en-GB" dirty="0"/>
              <a:t> – Copyright information.</a:t>
            </a:r>
          </a:p>
          <a:p>
            <a:r>
              <a:rPr lang="en-GB" dirty="0"/>
              <a:t>The design follows a </a:t>
            </a:r>
            <a:r>
              <a:rPr lang="en-GB" b="1" dirty="0"/>
              <a:t>clean, modern layout</a:t>
            </a:r>
            <a:r>
              <a:rPr lang="en-GB" dirty="0"/>
              <a:t> with consistent spacing, readable fonts, and a mobile-friendly structure.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E06195E-16D6-79D8-7A9F-F8EB1FE9E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FEATURES AND FUNCTIONALITY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95400" y="2514600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🧑‍🎓 </a:t>
            </a:r>
            <a:r>
              <a:rPr lang="en-IN" b="1" dirty="0"/>
              <a:t>Personal Introduction</a:t>
            </a:r>
            <a:endParaRPr lang="en-IN" dirty="0"/>
          </a:p>
          <a:p>
            <a:r>
              <a:rPr lang="en-IN" dirty="0"/>
              <a:t>📁 </a:t>
            </a:r>
            <a:r>
              <a:rPr lang="en-IN" b="1" dirty="0"/>
              <a:t>Project Showcase</a:t>
            </a:r>
            <a:r>
              <a:rPr lang="en-IN" dirty="0"/>
              <a:t> – With titles and short descriptions.</a:t>
            </a:r>
          </a:p>
          <a:p>
            <a:r>
              <a:rPr lang="en-IN" dirty="0"/>
              <a:t>📧 </a:t>
            </a:r>
            <a:r>
              <a:rPr lang="en-IN" b="1" dirty="0"/>
              <a:t>Contact Info</a:t>
            </a:r>
            <a:r>
              <a:rPr lang="en-IN" dirty="0"/>
              <a:t> – Email, </a:t>
            </a:r>
            <a:r>
              <a:rPr lang="en-IN" dirty="0" err="1"/>
              <a:t>GitHub</a:t>
            </a:r>
            <a:r>
              <a:rPr lang="en-IN" dirty="0"/>
              <a:t>, and LinkedIn links.</a:t>
            </a:r>
          </a:p>
          <a:p>
            <a:r>
              <a:rPr lang="en-IN" dirty="0"/>
              <a:t>🌐 </a:t>
            </a:r>
            <a:r>
              <a:rPr lang="en-IN" b="1" dirty="0"/>
              <a:t>Responsive Design</a:t>
            </a:r>
            <a:r>
              <a:rPr lang="en-IN" dirty="0"/>
              <a:t> – Works on mobile and desktop.</a:t>
            </a:r>
          </a:p>
          <a:p>
            <a:r>
              <a:rPr lang="en-IN" dirty="0"/>
              <a:t>🔗 </a:t>
            </a:r>
            <a:r>
              <a:rPr lang="en-IN" b="1" dirty="0"/>
              <a:t>Clickable Links</a:t>
            </a:r>
            <a:r>
              <a:rPr lang="en-IN" dirty="0"/>
              <a:t> – Navigation and external profiles.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20660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52475" y="6486037"/>
            <a:ext cx="1773555" cy="1663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275"/>
              </a:lnSpc>
            </a:pPr>
            <a:r>
              <a:rPr sz="1100" spc="20" dirty="0">
                <a:solidFill>
                  <a:srgbClr val="2D83C3"/>
                </a:solidFill>
                <a:latin typeface="Trebuchet MS"/>
                <a:cs typeface="Trebuchet MS"/>
              </a:rPr>
              <a:t>3/21/202</a:t>
            </a:r>
            <a:r>
              <a:rPr sz="1100" spc="10" dirty="0">
                <a:solidFill>
                  <a:srgbClr val="2D83C3"/>
                </a:solidFill>
                <a:latin typeface="Trebuchet MS"/>
                <a:cs typeface="Trebuchet MS"/>
              </a:rPr>
              <a:t>4</a:t>
            </a:r>
            <a:r>
              <a:rPr sz="110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spc="13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b="1" spc="50" dirty="0">
                <a:solidFill>
                  <a:srgbClr val="2D83C3"/>
                </a:solidFill>
                <a:latin typeface="Trebuchet MS"/>
                <a:cs typeface="Trebuchet MS"/>
              </a:rPr>
              <a:t>A</a:t>
            </a:r>
            <a:r>
              <a:rPr sz="1100" b="1" spc="15" dirty="0">
                <a:solidFill>
                  <a:srgbClr val="2D83C3"/>
                </a:solidFill>
                <a:latin typeface="Trebuchet MS"/>
                <a:cs typeface="Trebuchet MS"/>
              </a:rPr>
              <a:t>nnu</a:t>
            </a:r>
            <a:r>
              <a:rPr sz="1100" b="1" spc="10" dirty="0">
                <a:solidFill>
                  <a:srgbClr val="2D83C3"/>
                </a:solidFill>
                <a:latin typeface="Trebuchet MS"/>
                <a:cs typeface="Trebuchet MS"/>
              </a:rPr>
              <a:t>al</a:t>
            </a:r>
            <a:r>
              <a:rPr sz="1100" b="1" spc="-14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b="1" dirty="0">
                <a:solidFill>
                  <a:srgbClr val="2D83C3"/>
                </a:solidFill>
                <a:latin typeface="Trebuchet MS"/>
                <a:cs typeface="Trebuchet MS"/>
              </a:rPr>
              <a:t>R</a:t>
            </a:r>
            <a:r>
              <a:rPr sz="1100" b="1" spc="35" dirty="0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sz="1100" b="1" spc="90" dirty="0">
                <a:solidFill>
                  <a:srgbClr val="2D83C3"/>
                </a:solidFill>
                <a:latin typeface="Trebuchet MS"/>
                <a:cs typeface="Trebuchet MS"/>
              </a:rPr>
              <a:t>v</a:t>
            </a:r>
            <a:r>
              <a:rPr sz="1100" b="1" spc="-35" dirty="0">
                <a:solidFill>
                  <a:srgbClr val="2D83C3"/>
                </a:solidFill>
                <a:latin typeface="Trebuchet MS"/>
                <a:cs typeface="Trebuchet MS"/>
              </a:rPr>
              <a:t>i</a:t>
            </a:r>
            <a:r>
              <a:rPr sz="1100" b="1" spc="35" dirty="0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sz="1100" b="1" spc="15" dirty="0">
                <a:solidFill>
                  <a:srgbClr val="2D83C3"/>
                </a:solidFill>
                <a:latin typeface="Trebuchet MS"/>
                <a:cs typeface="Trebuchet MS"/>
              </a:rPr>
              <a:t>w</a:t>
            </a:r>
            <a:endParaRPr sz="1100">
              <a:latin typeface="Trebuchet MS"/>
              <a:cs typeface="Trebuchet M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75" y="3381373"/>
            <a:ext cx="2466975" cy="3419475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39775" y="654938"/>
            <a:ext cx="8480425" cy="670696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IN" sz="4250" spc="15" dirty="0"/>
              <a:t>RESULTS AND SCREENSHOTS</a:t>
            </a:r>
            <a:endParaRPr sz="4250" dirty="0"/>
          </a:p>
        </p:txBody>
      </p:sp>
      <p:sp>
        <p:nvSpPr>
          <p:cNvPr id="8" name="object 8"/>
          <p:cNvSpPr txBox="1"/>
          <p:nvPr/>
        </p:nvSpPr>
        <p:spPr>
          <a:xfrm>
            <a:off x="11277218" y="6473337"/>
            <a:ext cx="228600" cy="19177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z="1100" spc="10" dirty="0">
                <a:solidFill>
                  <a:srgbClr val="2D936B"/>
                </a:solidFill>
                <a:latin typeface="Trebuchet MS"/>
                <a:cs typeface="Trebuchet MS"/>
              </a:rPr>
              <a:t>10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FAD9CEB2-36E1-0550-426B-2FAF97882044}"/>
              </a:ext>
            </a:extLst>
          </p:cNvPr>
          <p:cNvSpPr txBox="1"/>
          <p:nvPr/>
        </p:nvSpPr>
        <p:spPr>
          <a:xfrm>
            <a:off x="2743200" y="2354703"/>
            <a:ext cx="8534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199" y="1430348"/>
            <a:ext cx="6472237" cy="5340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6875" y="6467475"/>
            <a:ext cx="76200" cy="1778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55332" y="385444"/>
            <a:ext cx="4578668" cy="7521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dirty="0"/>
              <a:t>CONCLUSION</a:t>
            </a:r>
            <a:endParaRPr dirty="0"/>
          </a:p>
        </p:txBody>
      </p:sp>
      <p:sp>
        <p:nvSpPr>
          <p:cNvPr id="9" name="object 9"/>
          <p:cNvSpPr txBox="1"/>
          <p:nvPr/>
        </p:nvSpPr>
        <p:spPr>
          <a:xfrm>
            <a:off x="11277218" y="6473337"/>
            <a:ext cx="228600" cy="19177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z="1100" spc="10" dirty="0">
                <a:solidFill>
                  <a:srgbClr val="2D936B"/>
                </a:solidFill>
                <a:latin typeface="Trebuchet MS"/>
                <a:cs typeface="Trebuchet MS"/>
              </a:rPr>
              <a:t>11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066800" y="2209800"/>
            <a:ext cx="69342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This project successfully demonstrates how a Computer Science student like </a:t>
            </a:r>
            <a:r>
              <a:rPr lang="en-GB" dirty="0" err="1"/>
              <a:t>Navanithini</a:t>
            </a:r>
            <a:r>
              <a:rPr lang="en-GB" dirty="0"/>
              <a:t> can build a personal portfolio using basic web technologies. The website acts as a professional online resume and helps in improving visibility and personal branding. Future improvements may include adding JavaScript functionality, a downloadable resume, or integrating a blog section.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379</TotalTime>
  <Words>500</Words>
  <Application>Microsoft Office PowerPoint</Application>
  <PresentationFormat>Custom</PresentationFormat>
  <Paragraphs>66</Paragraphs>
  <Slides>11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Digital Portfolio  </vt:lpstr>
      <vt:lpstr>PROJECT TITLE</vt:lpstr>
      <vt:lpstr>AGENDA</vt:lpstr>
      <vt:lpstr>PROBLEM STATEMENT</vt:lpstr>
      <vt:lpstr>PROJECT OVERVIEW</vt:lpstr>
      <vt:lpstr>WHO ARE THE END USERS?</vt:lpstr>
      <vt:lpstr>TOOLS AND TECHNIQUES</vt:lpstr>
      <vt:lpstr>PowerPoint Presentation</vt:lpstr>
      <vt:lpstr>FEATURES AND FUNCTIONALITY</vt:lpstr>
      <vt:lpstr>RESULTS AND SCREENSHOTS</vt:lpstr>
      <vt:lpstr>CONCLUSION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Face Mask Detection using Convolutional Neural Network (CNN)</dc:title>
  <dc:creator>Konduru Narasimha</dc:creator>
  <cp:lastModifiedBy>Admin</cp:lastModifiedBy>
  <cp:revision>25</cp:revision>
  <dcterms:created xsi:type="dcterms:W3CDTF">2024-03-29T15:07:22Z</dcterms:created>
  <dcterms:modified xsi:type="dcterms:W3CDTF">2025-09-11T09:07:46Z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2024-03-21T00:00:00Z</vt:filetime>
  </property>
  <property fmtid="{D5CDD505-2E9C-101B-9397-08002B2CF9AE}" pid="3" name="LastSaved">
    <vt:filetime>2024-03-29T00:00:00Z</vt:filetime>
  </property>
</Properties>
</file>